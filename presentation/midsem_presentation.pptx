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committee. Introduce the research theme: Bandwidth vs Time Efficiency. State that this midsem evaluation directly answers the fundamental trade-off between direct semantic S2S and cascade S2T2S pipelines with empirical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core paradox: On modern networks, physical byte transmission is instant (&lt;3 ms). However, S2T2S introduces huge delay (5-20 seconds). Contrast the bandwidth mindset with the latency mindset. Mention ITU-T G.114 standard (200 ms conversational limit).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both architectures. In S2T2S, explain our trained DeepSC model with 22,234 vocabulary, trained across AWGN, Rayleigh, and Rician channels. In S2S, explain frame-by-frame RVQ neural codecs (SpeechTokenizer, Mimi).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mathematical deconstruction of delay. State why T_transmission is trivial (&lt;3ms). Focus on the two key drivers: The Context Bottleneck (algorithmic lookahead) and the Computational Cascade (sequential inference).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experimental design. 6 standardized audio samples, 3 wireless channels, -5 to 20 dB SNR. Explain hardware-level instrumentation with time.perf_counter().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1: Point to the long-duration paragraph bars. Note that S2T2S drops to 622 bps. Explain text semantic compression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2: The critical contrast. Point out the amber 200ms line. S2S is at 43-63ms. S2T2S is at 5,000-29,000ms. A 186x to 273x latency disparity.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3: Deconstruct the 7.25-second utterance. Phrase buffering is 7,248 ms (65.6%). Prove that even with instantaneous compute, S2T2S still has 7+ seconds of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4: Left panel shows linear O(N) scaling for S2T2S vs flat O(1) for S2S. Right panel shows RTF. S2T2S has low compute RTF (0.06), but buffering prevents streaming.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5: THE MONEY SLIDE. Walk through the Pareto Frontier. Explain the two distinct operational zones: Conversational Streaming Zone vs Bandwidth Archival Zone. State the core engineering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6: Show DeepSC wireless channel robustness. Explain that our model was trained on Europarl and handles AWGN, Rayleigh fading, and Rician fading without cliff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conclude: our midsem evaluation has proven the trade-off conclusively. S2T2S achieves superior bandwidth efficiency (622 bps) at the cost of a 186-fold latency penalty. Semantic S2S operates frame-by-frame, delivering first audio in 43-63 ms to preserve real-time conversational flow. Thank the committee and open for Q&amp;A and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 b="1">
                <a:solidFill>
                  <a:srgbClr val="10B981"/>
                </a:solidFill>
              </a:defRPr>
            </a:pPr>
            <a:r>
              <a:t>IIIT ALLAHABAD • MINOR PROJECT MIDSEM EVALUATION</a:t>
            </a:r>
          </a:p>
          <a:p>
            <a:pPr>
              <a:spcAft>
                <a:spcPts val="1400"/>
              </a:spcAft>
              <a:defRPr sz="3400" b="1">
                <a:solidFill>
                  <a:srgbClr val="FFFFFF"/>
                </a:solidFill>
              </a:defRPr>
            </a:pPr>
            <a:r>
              <a:t>Bandwidth vs. Time Efficiency:</a:t>
            </a:r>
            <a:br/>
            <a:r>
              <a:t>Semantic S2S vs. S2T2S Pipelines</a:t>
            </a:r>
          </a:p>
          <a:p>
            <a:pPr>
              <a:spcAft>
                <a:spcPts val="2800"/>
              </a:spcAft>
              <a:defRPr sz="1800">
                <a:solidFill>
                  <a:srgbClr val="64748B"/>
                </a:solidFill>
              </a:defRPr>
            </a:pPr>
            <a:r>
              <a:t>Proving the Fundamental Trade-Off in Neural Speech Communication</a:t>
            </a:r>
          </a:p>
          <a:p>
            <a:pPr>
              <a:defRPr sz="1200">
                <a:solidFill>
                  <a:srgbClr val="3B82F6"/>
                </a:solidFill>
              </a:defRPr>
            </a:pPr>
            <a:r>
              <a:t>FunASR SenseVoice Small  •  DeepSC Transformer  •  Kokoro Emotion TTS  •  SpeechTokenizer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The Motivation: The Bandwidth vs. Latency Paradox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B82F6"/>
                </a:solidFill>
              </a:defRPr>
            </a:pPr>
            <a:r>
              <a:t>PROBLEM FORMULATION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484632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1E3A8A"/>
                </a:solidFill>
              </a:defRPr>
            </a:pPr>
            <a:r>
              <a:t>The Bandwidth Perspective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Text as Ultimate Compression: </a:t>
            </a:r>
            <a:r>
              <a:rPr b="0" sz="1200">
                <a:solidFill>
                  <a:srgbClr val="64748B"/>
                </a:solidFill>
              </a:rPr>
              <a:t>Converting speech to text strips raw acoustics, dropping bitrate to ~100-150 bps (50x lower than G.711).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Shannon Capacity Limits: </a:t>
            </a:r>
            <a:r>
              <a:rPr b="0" sz="1200">
                <a:solidFill>
                  <a:srgbClr val="64748B"/>
                </a:solidFill>
              </a:rPr>
              <a:t>Spectrum is crowded. Semantic communication saves critical wireless channel uses.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The Common Premise: </a:t>
            </a:r>
            <a:r>
              <a:rPr b="0" sz="1200">
                <a:solidFill>
                  <a:srgbClr val="64748B"/>
                </a:solidFill>
              </a:rPr>
              <a:t>If text uses vastly fewer bits, shouldn't S2T2S be the undisputed winner?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484632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EF4444"/>
                </a:solidFill>
              </a:defRPr>
            </a:pPr>
            <a:r>
              <a:t>The Time Efficiency Perspective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Transmission Delay is Gone: </a:t>
            </a:r>
            <a:r>
              <a:rPr b="0" sz="1200">
                <a:solidFill>
                  <a:srgbClr val="64748B"/>
                </a:solidFill>
              </a:rPr>
              <a:t>Over 5G or modern links, transmitting 500 bytes takes &lt;3 ms. Network lag is negligible.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The Real Delay: </a:t>
            </a:r>
            <a:r>
              <a:rPr b="0" sz="1200">
                <a:solidFill>
                  <a:srgbClr val="64748B"/>
                </a:solidFill>
              </a:rPr>
              <a:t>Latency in neural pipelines is dominated by algorithmic buffering and model compute.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Human Interaction Limit: </a:t>
            </a:r>
            <a:r>
              <a:rPr b="0" sz="1200">
                <a:solidFill>
                  <a:srgbClr val="64748B"/>
                </a:solidFill>
              </a:rPr>
              <a:t>ITU-T G.114 mandates delay &lt;200 ms for natural dialogue. Delays &gt;400 ms break conversational 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System Architectures: S2T2S vs. Direct Semantic S2S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B82F6"/>
                </a:solidFill>
              </a:defRPr>
            </a:pPr>
            <a:r>
              <a:t>ARCHITECTURES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EF4444"/>
                </a:solidFill>
              </a:defRPr>
            </a:pPr>
            <a:r>
              <a:t>Pipeline B: Cascade S2T2S (Implemented &amp; Trained in Project)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Flow: </a:t>
            </a:r>
            <a:r>
              <a:rPr b="0" sz="1200">
                <a:solidFill>
                  <a:srgbClr val="64748B"/>
                </a:solidFill>
              </a:rPr>
              <a:t>Audio In ➔ SenseVoice ASR (Text + Emotion/Gender) ➔ DeepSC Encoder ➔ Channel ➔ DeepSC Decoder ➔ Kokoro TTS ➔ Audio Out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Key Trait: </a:t>
            </a:r>
            <a:r>
              <a:rPr b="0" sz="1200">
                <a:solidFill>
                  <a:srgbClr val="64748B"/>
                </a:solidFill>
              </a:rPr>
              <a:t>Mandatory phrase buffering (1.5s - 25s) before DeepSC can encode words. 3-stage cascaded neural inference.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1033272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Pipeline A: Direct Semantic S2S (Streaming Audio Tokenizers)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Flow: </a:t>
            </a:r>
            <a:r>
              <a:rPr b="0" sz="1200">
                <a:solidFill>
                  <a:srgbClr val="64748B"/>
                </a:solidFill>
              </a:rPr>
              <a:t>Audio In ➔ Streaming Neural Tokenizer (SpeechTokenizer / Mimi) ➔ Token Stream ➔ Channel ➔ Streaming Vocoder ➔ Audio Out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Key Trait: </a:t>
            </a:r>
            <a:r>
              <a:rPr b="0" sz="1200">
                <a:solidFill>
                  <a:srgbClr val="64748B"/>
                </a:solidFill>
              </a:rPr>
              <a:t>Operates on 20 ms frames. First audio is reconstructed as soon as the first frame arrives (TTFA &lt; 65 ms).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Theoretical Delay Formulation: Mathematical Roots of Latency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B82F6"/>
                </a:solidFill>
              </a:defRPr>
            </a:pPr>
            <a:r>
              <a:t>MATHEMATICAL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1033272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Latency(total) = T(buffering) + T(encode) + T(transmission) + T(decode)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4937760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EF4444"/>
                </a:solidFill>
              </a:defRPr>
            </a:pPr>
            <a:r>
              <a:t>1. The Context Bottleneck (Algorithmic)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ASR Clause Lookahead: </a:t>
            </a:r>
            <a:r>
              <a:rPr b="0" sz="1200">
                <a:solidFill>
                  <a:srgbClr val="64748B"/>
                </a:solidFill>
              </a:rPr>
              <a:t>ASR cannot transcribe token-by-token in real time. It must buffer an entire sentence to resolve phonemes and grammar: T_buf ≈ Audio Duration (1.5s - 25s).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TTS Intonation Context: </a:t>
            </a:r>
            <a:r>
              <a:rPr b="0" sz="1200">
                <a:solidFill>
                  <a:srgbClr val="64748B"/>
                </a:solidFill>
              </a:rPr>
              <a:t>TTS must wait for the entire sentence to compute prosody before synthesizing sound.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286000"/>
            <a:ext cx="4937760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2. The Computational Cascade (Inference)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Cascaded Pipeline: </a:t>
            </a:r>
            <a:r>
              <a:rPr b="0" sz="1200">
                <a:solidFill>
                  <a:srgbClr val="64748B"/>
                </a:solidFill>
              </a:rPr>
              <a:t>Runs 3 heavy models in series: SenseVoice ASR (300-1,200 ms) + DeepSC Transformer (20-250 ms) + Kokoro TTS (1,500-3,000 ms).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S2S Frame Stream: </a:t>
            </a:r>
            <a:r>
              <a:rPr b="0" sz="1200">
                <a:solidFill>
                  <a:srgbClr val="64748B"/>
                </a:solidFill>
              </a:rPr>
              <a:t>Runs a single lightweight convolutional encoder (~5 ms/frame) and streaming vocoder (~15 ms/frame).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Experimental Setup &amp; The 2×2 Benchmark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B82F6"/>
                </a:solidFill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Evaluated 72 automated experimental trials across 6 standardized audio samples, 3 wireless channels (AWGN, Rayleigh Fading, Rician Fading), and SNR ranging from -5 dB to +20 dB.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011680"/>
          <a:ext cx="103327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  <a:gridCol w="2651760"/>
              </a:tblGrid>
              <a:tr h="8046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 Dimension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Pipeline A: S2S (SpeechTokenizer)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Pipeline A: S2S (Kyutai Mimi)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Pipeline B: Cascade S2T2S (DeepSC)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Effective Bitrate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1,500 bps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1,100 bps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A8A"/>
                          </a:solidFill>
                        </a:defRPr>
                      </a:pPr>
                      <a:r>
                        <a:t>622 - 1,077 bps (Winner)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Time-to-First-Audio (TTFA)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63.0 ms (Winner)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43.0 ms (Winner)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11,743.2 ms (11.7s avg)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Algorithmic Lookahead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20 ms Frame (Winner)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12.5 ms Frame (Winner)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1,590 to 24,685 ms (Whole clause)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Streaming Usability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Real-Time Conversational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Real-Time Conversational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Non-interactive / Store &amp; Forward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Empirical Result 1: Bandwidth Efficiency (S2T2S Wins)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B82F6"/>
                </a:solidFill>
              </a:defRPr>
            </a:pPr>
            <a:r>
              <a:t>DATA RATE (BPS)</a:t>
            </a:r>
          </a:p>
        </p:txBody>
      </p:sp>
      <p:pic>
        <p:nvPicPr>
          <p:cNvPr id="4" name="Picture 3" descr="bandwidth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46304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Key Empirical Findings on Bandwidth: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Short Speech (&lt;3s): </a:t>
            </a:r>
            <a:r>
              <a:rPr b="0" sz="1200">
                <a:solidFill>
                  <a:srgbClr val="64748B"/>
                </a:solidFill>
              </a:rPr>
              <a:t>S2T2S requires ~1,127 bps due to DeepSC start/end token symbols and 16-dim representation.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Paragraph Speech (&gt;20s): </a:t>
            </a:r>
            <a:r>
              <a:rPr b="0" sz="1200">
                <a:solidFill>
                  <a:srgbClr val="64748B"/>
                </a:solidFill>
              </a:rPr>
              <a:t>S2T2S effective bitrate drops to 622 bps -- outperforming SpeechTokenizer (1,500 bps) by 2.4x and Mimi (1,100 bps) by 1.8x.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Text Compression Advantage: </a:t>
            </a:r>
            <a:r>
              <a:rPr b="0" sz="1200">
                <a:solidFill>
                  <a:srgbClr val="64748B"/>
                </a:solidFill>
              </a:rPr>
              <a:t>Text discards acoustic redundancy (timbre, room reverb), preserving purely linguistic semantics.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Empirical Result 2: Time-to-First-Audio (Semantic S2S Wins)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B82F6"/>
                </a:solidFill>
              </a:defRPr>
            </a:pPr>
            <a:r>
              <a:t>TIME EFFICIENCY (TTFA)</a:t>
            </a:r>
          </a:p>
        </p:txBody>
      </p:sp>
      <p:pic>
        <p:nvPicPr>
          <p:cNvPr id="4" name="Picture 3" descr="ttfa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46304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Key Empirical Findings on Latency: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ITU-T G.114 Standard: </a:t>
            </a:r>
            <a:r>
              <a:rPr b="0" sz="1200">
                <a:solidFill>
                  <a:srgbClr val="64748B"/>
                </a:solidFill>
              </a:rPr>
              <a:t>Humans perceive delay &gt;200 ms as conversational disruption (amber dotted line).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S2S Real-Time Mastery: </a:t>
            </a:r>
            <a:r>
              <a:rPr b="0" sz="1200">
                <a:solidFill>
                  <a:srgbClr val="64748B"/>
                </a:solidFill>
              </a:rPr>
              <a:t>SpeechTokenizer reaches 63.0 ms; Kyutai Mimi reaches 43.0 ms -- both well within live conversation limits.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S2T2S Latency Explosion: </a:t>
            </a:r>
            <a:r>
              <a:rPr b="0" sz="1200">
                <a:solidFill>
                  <a:srgbClr val="64748B"/>
                </a:solidFill>
              </a:rPr>
              <a:t>Short greetings take 5,278 ms; paragraphs take 29,169 ms.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Speedup Factor: </a:t>
            </a:r>
            <a:r>
              <a:rPr b="0" sz="1200">
                <a:solidFill>
                  <a:srgbClr val="64748B"/>
                </a:solidFill>
              </a:rPr>
              <a:t>Semantic S2S delivers audio 186x to 273x faster than S2T2S!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Root Cause Analysis: Proving the Context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B82F6"/>
                </a:solidFill>
              </a:defRPr>
            </a:pPr>
            <a:r>
              <a:t>LATENCY DECONSTRUCTION</a:t>
            </a:r>
          </a:p>
        </p:txBody>
      </p:sp>
      <p:pic>
        <p:nvPicPr>
          <p:cNvPr id="4" name="Picture 3" descr="latency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46304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EF4444"/>
                </a:solidFill>
              </a:defRPr>
            </a:pPr>
            <a:r>
              <a:t>Deconstruction of a 7.25s Utterance: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Phrase Buffering (Red): </a:t>
            </a:r>
            <a:r>
              <a:rPr b="0" sz="1200">
                <a:solidFill>
                  <a:srgbClr val="64748B"/>
                </a:solidFill>
              </a:rPr>
              <a:t>7,248 ms (65.6% of total delay) is spent simply waiting for the speaker to finish.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DeepSC Transmission (Blue): </a:t>
            </a:r>
            <a:r>
              <a:rPr b="0" sz="1200">
                <a:solidFill>
                  <a:srgbClr val="64748B"/>
                </a:solidFill>
              </a:rPr>
              <a:t>Only 175 ms (1.6%). Physical semantic communication is extremely fast.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TTS Synthesis (Purple): </a:t>
            </a:r>
            <a:r>
              <a:rPr b="0" sz="1200">
                <a:solidFill>
                  <a:srgbClr val="64748B"/>
                </a:solidFill>
              </a:rPr>
              <a:t>3,000 ms (27.1%) generating full sentence spectrograms.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The Definitive Proof: </a:t>
            </a:r>
            <a:r>
              <a:rPr b="0" sz="1200">
                <a:solidFill>
                  <a:srgbClr val="64748B"/>
                </a:solidFill>
              </a:rPr>
              <a:t>Even if computation was instantaneous (T_compute = 0), S2T2S still has &gt;7 seconds of delay.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Scaling Behavior: TTFA vs. Duration &amp; Throughput (RTF)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B82F6"/>
                </a:solidFill>
              </a:defRPr>
            </a:pPr>
            <a:r>
              <a:t>SCALING COMPLEXITY</a:t>
            </a:r>
          </a:p>
        </p:txBody>
      </p:sp>
      <p:pic>
        <p:nvPicPr>
          <p:cNvPr id="4" name="Picture 3" descr="rtf_vs_d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46304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Duration Scaling &amp; RTF Nuance: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Linear Scaling O(N): </a:t>
            </a:r>
            <a:r>
              <a:rPr b="0" sz="1200">
                <a:solidFill>
                  <a:srgbClr val="64748B"/>
                </a:solidFill>
              </a:rPr>
              <a:t>S2T2S TTFA scales linearly with speech length (TTFA ≈ Duration + 4s).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Constant O(1) Streaming: </a:t>
            </a:r>
            <a:r>
              <a:rPr b="0" sz="1200">
                <a:solidFill>
                  <a:srgbClr val="64748B"/>
                </a:solidFill>
              </a:rPr>
              <a:t>S2S TTFA is completely flat at 63 ms regardless of audio length.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The RTF Paradox: </a:t>
            </a:r>
            <a:r>
              <a:rPr b="0" sz="1200">
                <a:solidFill>
                  <a:srgbClr val="64748B"/>
                </a:solidFill>
              </a:rPr>
              <a:t>S2T2S has an RTF of 0.06 to 0.15 (16x faster than real-time batch compute). But high throughput cannot overcome the phrase buffer bottleneck.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The Definitive Proof: The Empirical Pareto Frontier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B82F6"/>
                </a:solidFill>
              </a:defRPr>
            </a:pPr>
            <a:r>
              <a:t>THE MONEY SLIDE ⭐</a:t>
            </a:r>
          </a:p>
        </p:txBody>
      </p:sp>
      <p:pic>
        <p:nvPicPr>
          <p:cNvPr id="4" name="Picture 3" descr="tradeoff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46304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Mapping the Operating Regimes: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No Single Winner: </a:t>
            </a:r>
            <a:r>
              <a:rPr b="0" sz="1200">
                <a:solidFill>
                  <a:srgbClr val="64748B"/>
                </a:solidFill>
              </a:rPr>
              <a:t>Neither pipeline occupies the ideal bottom-left origin (low bitrate + low latency).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Conversational Zone (Green): </a:t>
            </a:r>
            <a:r>
              <a:rPr b="0" sz="1200">
                <a:solidFill>
                  <a:srgbClr val="64748B"/>
                </a:solidFill>
              </a:rPr>
              <a:t>S2S (43-63 ms, 1,100-1,500 bps). Mandatory for interactive calls and conversational AI.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Bandwidth-Constrained Zone (Blue): </a:t>
            </a:r>
            <a:r>
              <a:rPr b="0" sz="1200">
                <a:solidFill>
                  <a:srgbClr val="64748B"/>
                </a:solidFill>
              </a:rPr>
              <a:t>S2T2S (622-1,000 bps, 5-29s). Optimal for satellite telemetry, voicemail, and sensor logs.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Physical-Layer Wireless Robustness: DeepSC Under Fading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B82F6"/>
                </a:solidFill>
              </a:defRPr>
            </a:pPr>
            <a:r>
              <a:t>CHANNEL FIDELITY</a:t>
            </a:r>
          </a:p>
        </p:txBody>
      </p:sp>
      <p:pic>
        <p:nvPicPr>
          <p:cNvPr id="4" name="Picture 3" descr="snr_vs_fide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46304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DeepSC Channel Performance: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Tested Fading Channels: </a:t>
            </a:r>
            <a:r>
              <a:rPr b="0" sz="1200">
                <a:solidFill>
                  <a:srgbClr val="64748B"/>
                </a:solidFill>
              </a:rPr>
              <a:t>AWGN, Rayleigh Fading (multipath), and Rician Fading (line-of-sight).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Graceful Degradation: </a:t>
            </a:r>
            <a:r>
              <a:rPr b="0" sz="1200">
                <a:solidFill>
                  <a:srgbClr val="64748B"/>
                </a:solidFill>
              </a:rPr>
              <a:t>DeepSC maintains semantic BLEU fidelity even at 0 dB without the cliff-edge drop seen in traditional 16-QAM + LDPC systems.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Equalization: </a:t>
            </a:r>
            <a:r>
              <a:rPr b="0" sz="1200">
                <a:solidFill>
                  <a:srgbClr val="64748B"/>
                </a:solidFill>
              </a:rPr>
              <a:t>Trained complex channel matrices apply zero-forcing equalization directly in neural embedding space.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Engineering Conclusion &amp; Midsem Defense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B82F6"/>
                </a:solidFill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493776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E3A8A"/>
                </a:solidFill>
              </a:defRPr>
            </a:pPr>
            <a:r>
              <a:t>The Proven Engineering Thesis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The Conclusion: </a:t>
            </a:r>
            <a:r>
              <a:rPr b="0" sz="1200">
                <a:solidFill>
                  <a:srgbClr val="64748B"/>
                </a:solidFill>
              </a:rPr>
              <a:t>'Converting speech to text yields up to 2.4x reduction in bandwidth, but incurs a 186x to 273x latency penalty due to phrase buffering and cascading inference.'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Takeaway: </a:t>
            </a:r>
            <a:r>
              <a:rPr b="0" sz="1200">
                <a:solidFill>
                  <a:srgbClr val="64748B"/>
                </a:solidFill>
              </a:rPr>
              <a:t>Direct Semantic S2S is not optimized for raw compression, but for conversational flow.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Midsem Deliverables: </a:t>
            </a:r>
            <a:r>
              <a:rPr b="0" sz="1200">
                <a:solidFill>
                  <a:srgbClr val="64748B"/>
                </a:solidFill>
              </a:rPr>
              <a:t>Complete pipeline working, 22k vocab model loaded, 72 benchmark trials, 6 publication figures.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493776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Live Demo &amp; Endsem Roadmap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Interactive Demo Ready: </a:t>
            </a:r>
            <a:r>
              <a:rPr b="0" sz="1200">
                <a:solidFill>
                  <a:srgbClr val="64748B"/>
                </a:solidFill>
              </a:rPr>
              <a:t>Gradio UI running (run_ui.bat) with mic input, channel fading controls, and live constellation scatter plotting.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Endsem Roadmap 1: </a:t>
            </a:r>
            <a:r>
              <a:rPr b="0" sz="1200">
                <a:solidFill>
                  <a:srgbClr val="64748B"/>
                </a:solidFill>
              </a:rPr>
              <a:t>Integrate native streaming Mimi/SpeechTokenizer encoder weights directly into DeepSC channel loop.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Endsem Roadmap 2: </a:t>
            </a:r>
            <a:r>
              <a:rPr b="0" sz="1200">
                <a:solidFill>
                  <a:srgbClr val="64748B"/>
                </a:solidFill>
              </a:rPr>
              <a:t>Hardware-in-the-loop over-the-air validation with SDR (HackRF / USRP).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</a:rPr>
              <a:t>Endsem Roadmap 3: </a:t>
            </a:r>
            <a:r>
              <a:rPr b="0" sz="1200">
                <a:solidFill>
                  <a:srgbClr val="64748B"/>
                </a:solidFill>
              </a:rPr>
              <a:t>Acoustic evaluation with PESQ and STOI metrics.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