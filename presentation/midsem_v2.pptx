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452710"/>
            <a:ext cx="1124712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 i="0" dirty="0">
                <a:solidFill>
                  <a:srgbClr val="1A376C"/>
                </a:solidFill>
              </a:rPr>
              <a:t>Indian Institute of Information Technology Allahabad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0852" y="1957036"/>
            <a:ext cx="112471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 dirty="0">
                <a:solidFill>
                  <a:srgbClr val="1A376C"/>
                </a:solidFill>
              </a:rPr>
              <a:t>Bandwidth vs. Time Efficiency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0852" y="1141655"/>
            <a:ext cx="1124712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Semantic S2S vs. S2T2S Pipelines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2697480"/>
            <a:ext cx="12188952" cy="2540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3269775"/>
            <a:ext cx="112471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 dirty="0">
                <a:solidFill>
                  <a:srgbClr val="000000"/>
                </a:solidFill>
              </a:rPr>
              <a:t>Project — Mid-Semester Evaluation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772695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 dirty="0">
                <a:solidFill>
                  <a:srgbClr val="444444"/>
                </a:solidFill>
              </a:rPr>
              <a:t>End-to-End Semantic Speech Communication over Wireless Channels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9E32B19-9022-E90D-C0FC-6C2A00254101}"/>
              </a:ext>
            </a:extLst>
          </p:cNvPr>
          <p:cNvSpPr txBox="1"/>
          <p:nvPr/>
        </p:nvSpPr>
        <p:spPr>
          <a:xfrm>
            <a:off x="110067" y="5065789"/>
            <a:ext cx="4936067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0" i="0" dirty="0">
                <a:solidFill>
                  <a:srgbClr val="000000"/>
                </a:solidFill>
              </a:rPr>
              <a:t>Submitted By : </a:t>
            </a:r>
            <a:br>
              <a:rPr lang="en-US" sz="2200" b="0" i="0" dirty="0">
                <a:solidFill>
                  <a:srgbClr val="000000"/>
                </a:solidFill>
              </a:rPr>
            </a:br>
            <a:r>
              <a:rPr lang="en-US" sz="2200" b="0" i="0" dirty="0" err="1">
                <a:solidFill>
                  <a:srgbClr val="000000"/>
                </a:solidFill>
              </a:rPr>
              <a:t>Yarkala</a:t>
            </a:r>
            <a:r>
              <a:rPr lang="en-US" sz="2200" b="0" i="0" dirty="0">
                <a:solidFill>
                  <a:srgbClr val="000000"/>
                </a:solidFill>
              </a:rPr>
              <a:t> Siddhartha (IEC2023039)</a:t>
            </a:r>
            <a:br>
              <a:rPr lang="en-US" sz="2200" b="0" i="0" dirty="0">
                <a:solidFill>
                  <a:srgbClr val="000000"/>
                </a:solidFill>
              </a:rPr>
            </a:br>
            <a:r>
              <a:rPr lang="en-US" sz="2200" b="0" i="0" dirty="0">
                <a:solidFill>
                  <a:srgbClr val="000000"/>
                </a:solidFill>
              </a:rPr>
              <a:t>Adarsh Kumar(IEC2023040)</a:t>
            </a:r>
            <a:br>
              <a:rPr lang="en-US" sz="2200" b="0" i="0" dirty="0">
                <a:solidFill>
                  <a:srgbClr val="000000"/>
                </a:solidFill>
              </a:rPr>
            </a:br>
            <a:r>
              <a:rPr lang="en-US" sz="2200" b="0" i="0" dirty="0" err="1">
                <a:solidFill>
                  <a:srgbClr val="000000"/>
                </a:solidFill>
              </a:rPr>
              <a:t>Chelpuri</a:t>
            </a:r>
            <a:r>
              <a:rPr lang="en-US" sz="2200" b="0" i="0" dirty="0">
                <a:solidFill>
                  <a:srgbClr val="000000"/>
                </a:solidFill>
              </a:rPr>
              <a:t> Sumithra Devi(IEC2023112)</a:t>
            </a:r>
            <a:endParaRPr sz="2200" b="0" i="0" dirty="0">
              <a:solidFill>
                <a:srgbClr val="00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D93637E-A3FF-DE4B-EAF6-3D2C0FA04290}"/>
              </a:ext>
            </a:extLst>
          </p:cNvPr>
          <p:cNvSpPr txBox="1"/>
          <p:nvPr/>
        </p:nvSpPr>
        <p:spPr>
          <a:xfrm>
            <a:off x="7142691" y="5065789"/>
            <a:ext cx="4936067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2200" b="0" i="0" dirty="0">
                <a:solidFill>
                  <a:srgbClr val="000000"/>
                </a:solidFill>
              </a:rPr>
              <a:t>Submitted To: </a:t>
            </a:r>
            <a:br>
              <a:rPr lang="en-US" sz="2200" b="0" i="0" dirty="0">
                <a:solidFill>
                  <a:srgbClr val="000000"/>
                </a:solidFill>
              </a:rPr>
            </a:br>
            <a:endParaRPr lang="en-US" sz="2200" b="0" i="0" dirty="0">
              <a:solidFill>
                <a:srgbClr val="000000"/>
              </a:solidFill>
            </a:endParaRPr>
          </a:p>
          <a:p>
            <a:pPr algn="r"/>
            <a:r>
              <a:rPr lang="en-US" sz="2200" dirty="0">
                <a:solidFill>
                  <a:srgbClr val="000000"/>
                </a:solidFill>
              </a:rPr>
              <a:t>Radhika Gour</a:t>
            </a:r>
            <a:br>
              <a:rPr lang="en-US" sz="2200" dirty="0">
                <a:solidFill>
                  <a:srgbClr val="000000"/>
                </a:solidFill>
              </a:rPr>
            </a:br>
            <a:r>
              <a:rPr lang="en-US" sz="2200" dirty="0">
                <a:solidFill>
                  <a:srgbClr val="000000"/>
                </a:solidFill>
              </a:rPr>
              <a:t>Department of ECE, IIITA</a:t>
            </a:r>
            <a:endParaRPr sz="2200" b="0" i="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0972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Introduction: The Research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430000" cy="55656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2100" b="1" dirty="0">
                <a:solidFill>
                  <a:srgbClr val="1A376C"/>
                </a:solidFill>
              </a:rPr>
              <a:t>What is Semantic Communication?</a:t>
            </a:r>
          </a:p>
          <a:p>
            <a:pPr algn="l">
              <a:spcBef>
                <a:spcPts val="600"/>
              </a:spcBef>
            </a:pPr>
            <a:r>
              <a:rPr sz="2100" b="0" dirty="0">
                <a:solidFill>
                  <a:srgbClr val="000000"/>
                </a:solidFill>
              </a:rPr>
              <a:t>• Classical systems transmit bits faithfully — they do not understand meaning</a:t>
            </a:r>
          </a:p>
          <a:p>
            <a:pPr algn="l">
              <a:spcBef>
                <a:spcPts val="600"/>
              </a:spcBef>
            </a:pPr>
            <a:r>
              <a:rPr sz="2100" b="0" dirty="0">
                <a:solidFill>
                  <a:srgbClr val="000000"/>
                </a:solidFill>
              </a:rPr>
              <a:t>• Semantic communication transmits the intended meaning, not raw waveforms</a:t>
            </a:r>
          </a:p>
          <a:p>
            <a:pPr algn="l">
              <a:spcBef>
                <a:spcPts val="600"/>
              </a:spcBef>
            </a:pPr>
            <a:r>
              <a:rPr sz="2100" b="0" dirty="0">
                <a:solidFill>
                  <a:srgbClr val="000000"/>
                </a:solidFill>
              </a:rPr>
              <a:t>• Goal: use AI models to compress and reconstruct speech by understanding it</a:t>
            </a:r>
          </a:p>
          <a:p>
            <a:pPr>
              <a:spcBef>
                <a:spcPts val="400"/>
              </a:spcBef>
            </a:pPr>
            <a:endParaRPr sz="2100" b="0" dirty="0">
              <a:solidFill>
                <a:srgbClr val="000000"/>
              </a:solidFill>
            </a:endParaRPr>
          </a:p>
          <a:p>
            <a:pPr algn="l">
              <a:spcBef>
                <a:spcPts val="600"/>
              </a:spcBef>
            </a:pPr>
            <a:r>
              <a:rPr sz="2100" b="1" dirty="0">
                <a:solidFill>
                  <a:srgbClr val="1A376C"/>
                </a:solidFill>
              </a:rPr>
              <a:t>The Central Research Question</a:t>
            </a:r>
          </a:p>
          <a:p>
            <a:pPr algn="l">
              <a:spcBef>
                <a:spcPts val="600"/>
              </a:spcBef>
            </a:pPr>
            <a:r>
              <a:rPr sz="2100" b="0" dirty="0">
                <a:solidFill>
                  <a:srgbClr val="000000"/>
                </a:solidFill>
              </a:rPr>
              <a:t>• Should we convert speech → text → speech  (S2T2S) for maximum compression?</a:t>
            </a:r>
          </a:p>
          <a:p>
            <a:pPr algn="l">
              <a:spcBef>
                <a:spcPts val="600"/>
              </a:spcBef>
            </a:pPr>
            <a:r>
              <a:rPr sz="2100" b="0" dirty="0">
                <a:solidFill>
                  <a:srgbClr val="000000"/>
                </a:solidFill>
              </a:rPr>
              <a:t>• Or transmit direct neural audio tokens  (S2S) for real-time streaming?</a:t>
            </a:r>
          </a:p>
          <a:p>
            <a:pPr>
              <a:spcBef>
                <a:spcPts val="400"/>
              </a:spcBef>
            </a:pPr>
            <a:endParaRPr sz="2100" b="0" dirty="0">
              <a:solidFill>
                <a:srgbClr val="000000"/>
              </a:solidFill>
            </a:endParaRPr>
          </a:p>
          <a:p>
            <a:pPr algn="l">
              <a:spcBef>
                <a:spcPts val="600"/>
              </a:spcBef>
            </a:pPr>
            <a:r>
              <a:rPr sz="2100" b="1" dirty="0">
                <a:solidFill>
                  <a:srgbClr val="1A376C"/>
                </a:solidFill>
              </a:rPr>
              <a:t>The Paradox</a:t>
            </a:r>
          </a:p>
          <a:p>
            <a:pPr algn="l">
              <a:spcBef>
                <a:spcPts val="600"/>
              </a:spcBef>
            </a:pPr>
            <a:r>
              <a:rPr sz="2100" b="0" dirty="0">
                <a:solidFill>
                  <a:srgbClr val="000000"/>
                </a:solidFill>
              </a:rPr>
              <a:t>• On modern 4G/5G networks, transmitting 1 KB of data takes &lt; 3 </a:t>
            </a:r>
            <a:r>
              <a:rPr sz="2100" b="0" dirty="0" err="1">
                <a:solidFill>
                  <a:srgbClr val="000000"/>
                </a:solidFill>
              </a:rPr>
              <a:t>ms</a:t>
            </a:r>
            <a:endParaRPr sz="2100" b="0" dirty="0">
              <a:solidFill>
                <a:srgbClr val="000000"/>
              </a:solidFill>
            </a:endParaRPr>
          </a:p>
          <a:p>
            <a:pPr algn="l">
              <a:spcBef>
                <a:spcPts val="600"/>
              </a:spcBef>
            </a:pPr>
            <a:r>
              <a:rPr sz="2100" b="0" dirty="0">
                <a:solidFill>
                  <a:srgbClr val="000000"/>
                </a:solidFill>
              </a:rPr>
              <a:t>• Transmission delay ≈ 0 </a:t>
            </a:r>
            <a:r>
              <a:rPr sz="2100" b="0" dirty="0" err="1">
                <a:solidFill>
                  <a:srgbClr val="000000"/>
                </a:solidFill>
              </a:rPr>
              <a:t>ms</a:t>
            </a:r>
            <a:r>
              <a:rPr sz="2100" b="0" dirty="0">
                <a:solidFill>
                  <a:srgbClr val="000000"/>
                </a:solidFill>
              </a:rPr>
              <a:t>  →  all delay is from computation &amp; buffering</a:t>
            </a:r>
          </a:p>
          <a:p>
            <a:pPr algn="l">
              <a:spcBef>
                <a:spcPts val="600"/>
              </a:spcBef>
            </a:pPr>
            <a:r>
              <a:rPr sz="2100" b="0" dirty="0">
                <a:solidFill>
                  <a:srgbClr val="000000"/>
                </a:solidFill>
              </a:rPr>
              <a:t>• ITU-T G.114 standard: voice delay must be &lt; 200 </a:t>
            </a:r>
            <a:r>
              <a:rPr sz="2100" b="0" dirty="0" err="1">
                <a:solidFill>
                  <a:srgbClr val="000000"/>
                </a:solidFill>
              </a:rPr>
              <a:t>ms</a:t>
            </a:r>
            <a:r>
              <a:rPr sz="2100" b="0" dirty="0">
                <a:solidFill>
                  <a:srgbClr val="000000"/>
                </a:solidFill>
              </a:rPr>
              <a:t> for natural conversation</a:t>
            </a:r>
          </a:p>
          <a:p>
            <a:pPr algn="l">
              <a:spcBef>
                <a:spcPts val="600"/>
              </a:spcBef>
            </a:pPr>
            <a:r>
              <a:rPr sz="2100" b="0" dirty="0">
                <a:solidFill>
                  <a:srgbClr val="000000"/>
                </a:solidFill>
              </a:rPr>
              <a:t>• S2T2S achieves lower bandwidth BUT causes 5,000 – 29,000 </a:t>
            </a:r>
            <a:r>
              <a:rPr sz="2100" b="0" dirty="0" err="1">
                <a:solidFill>
                  <a:srgbClr val="000000"/>
                </a:solidFill>
              </a:rPr>
              <a:t>ms</a:t>
            </a:r>
            <a:r>
              <a:rPr sz="2100" b="0" dirty="0">
                <a:solidFill>
                  <a:srgbClr val="000000"/>
                </a:solidFill>
              </a:rPr>
              <a:t> of latency!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0972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Architecture: The Two Competing Pipelines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11612880" cy="2286000"/>
          </a:xfrm>
          <a:prstGeom prst="rect">
            <a:avLst/>
          </a:prstGeom>
          <a:solidFill>
            <a:srgbClr val="F0F4FF"/>
          </a:solidFill>
          <a:ln>
            <a:solidFill>
              <a:srgbClr val="1A37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12344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1A376C"/>
                </a:solidFill>
              </a:rPr>
              <a:t>Pipeline </a:t>
            </a:r>
            <a:r>
              <a:rPr lang="en-US" sz="2000" b="1" i="0" dirty="0">
                <a:solidFill>
                  <a:srgbClr val="1A376C"/>
                </a:solidFill>
              </a:rPr>
              <a:t>A</a:t>
            </a:r>
            <a:r>
              <a:rPr sz="2000" b="1" i="0" dirty="0">
                <a:solidFill>
                  <a:srgbClr val="1A376C"/>
                </a:solidFill>
              </a:rPr>
              <a:t> — Cascade S2T2S  (Our Implementation)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664208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 dirty="0">
                <a:solidFill>
                  <a:srgbClr val="000000"/>
                </a:solidFill>
              </a:rPr>
              <a:t>Mic Input  →  </a:t>
            </a:r>
            <a:r>
              <a:rPr sz="1800" b="0" i="0" dirty="0" err="1">
                <a:solidFill>
                  <a:srgbClr val="000000"/>
                </a:solidFill>
              </a:rPr>
              <a:t>SenseVoice</a:t>
            </a:r>
            <a:r>
              <a:rPr sz="1800" b="0" i="0" dirty="0">
                <a:solidFill>
                  <a:srgbClr val="000000"/>
                </a:solidFill>
              </a:rPr>
              <a:t> ASR (buffers full phrase)  →  Text + Emotion + Gender  →  </a:t>
            </a:r>
            <a:r>
              <a:rPr sz="1800" b="0" i="0" dirty="0" err="1">
                <a:solidFill>
                  <a:srgbClr val="000000"/>
                </a:solidFill>
              </a:rPr>
              <a:t>DeepSC</a:t>
            </a:r>
            <a:r>
              <a:rPr sz="1800" b="0" i="0" dirty="0">
                <a:solidFill>
                  <a:srgbClr val="000000"/>
                </a:solidFill>
              </a:rPr>
              <a:t> Encoder  →  Wireless Channel (AWGN / Rayleigh / Rician)  →  </a:t>
            </a:r>
            <a:r>
              <a:rPr sz="1800" b="0" i="0" dirty="0" err="1">
                <a:solidFill>
                  <a:srgbClr val="000000"/>
                </a:solidFill>
              </a:rPr>
              <a:t>DeepSC</a:t>
            </a:r>
            <a:r>
              <a:rPr sz="1800" b="0" i="0" dirty="0">
                <a:solidFill>
                  <a:srgbClr val="000000"/>
                </a:solidFill>
              </a:rPr>
              <a:t> Decoder  →  Kokoro TTS (needs full sentence)  →  Speaker Output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468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E33B2E"/>
                </a:solidFill>
              </a:rPr>
              <a:t>Bottleneck: Must buffer entire sentence before ANY audio is produced   |   Scaling: O(N) with speech duration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4023360"/>
            <a:ext cx="11612880" cy="2286000"/>
          </a:xfrm>
          <a:prstGeom prst="rect">
            <a:avLst/>
          </a:prstGeom>
          <a:solidFill>
            <a:srgbClr val="F0FFF3"/>
          </a:solidFill>
          <a:ln>
            <a:solidFill>
              <a:srgbClr val="228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408940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228844"/>
                </a:solidFill>
              </a:rPr>
              <a:t>Pipeline </a:t>
            </a:r>
            <a:r>
              <a:rPr lang="en-US" sz="2000" b="1" i="0" dirty="0">
                <a:solidFill>
                  <a:srgbClr val="228844"/>
                </a:solidFill>
              </a:rPr>
              <a:t>B</a:t>
            </a:r>
            <a:r>
              <a:rPr sz="2000" b="1" i="0" dirty="0">
                <a:solidFill>
                  <a:srgbClr val="228844"/>
                </a:solidFill>
              </a:rPr>
              <a:t> — Direct Semantic S2S  (Baseline Comparison: </a:t>
            </a:r>
            <a:r>
              <a:rPr sz="2000" b="1" i="0" dirty="0" err="1">
                <a:solidFill>
                  <a:srgbClr val="228844"/>
                </a:solidFill>
              </a:rPr>
              <a:t>SpeechTokenizer</a:t>
            </a:r>
            <a:r>
              <a:rPr sz="2000" b="1" i="0" dirty="0">
                <a:solidFill>
                  <a:srgbClr val="228844"/>
                </a:solidFill>
              </a:rPr>
              <a:t> / Mimi / </a:t>
            </a:r>
            <a:r>
              <a:rPr sz="2000" b="1" i="0" dirty="0" err="1">
                <a:solidFill>
                  <a:srgbClr val="228844"/>
                </a:solidFill>
              </a:rPr>
              <a:t>EnCodec</a:t>
            </a:r>
            <a:r>
              <a:rPr sz="2000" b="1" i="0" dirty="0">
                <a:solidFill>
                  <a:srgbClr val="228844"/>
                </a:solidFill>
              </a:rPr>
              <a:t>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4553373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 dirty="0">
                <a:solidFill>
                  <a:srgbClr val="000000"/>
                </a:solidFill>
              </a:rPr>
              <a:t>Mic Input  →  Neural Audio Tokenizer (20 </a:t>
            </a:r>
            <a:r>
              <a:rPr sz="1800" b="0" i="0" dirty="0" err="1">
                <a:solidFill>
                  <a:srgbClr val="000000"/>
                </a:solidFill>
              </a:rPr>
              <a:t>ms</a:t>
            </a:r>
            <a:r>
              <a:rPr sz="1800" b="0" i="0" dirty="0">
                <a:solidFill>
                  <a:srgbClr val="000000"/>
                </a:solidFill>
              </a:rPr>
              <a:t> frame)  →  Discrete Semantic Tokens  →  Wireless Channel  →  Streaming Neural Vocoder  →  Speaker Output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5251027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228844"/>
                </a:solidFill>
              </a:rPr>
              <a:t>No buffering required: first audio out in 43–63 </a:t>
            </a:r>
            <a:r>
              <a:rPr sz="1600" b="0" i="0" dirty="0" err="1">
                <a:solidFill>
                  <a:srgbClr val="228844"/>
                </a:solidFill>
              </a:rPr>
              <a:t>ms</a:t>
            </a:r>
            <a:r>
              <a:rPr sz="1600" b="0" i="0" dirty="0">
                <a:solidFill>
                  <a:srgbClr val="228844"/>
                </a:solidFill>
              </a:rPr>
              <a:t>   |   Scaling: O(1) — constant regardless of duration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0972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Experimental Design &amp;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188720"/>
            <a:ext cx="5486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2200" b="1" dirty="0">
                <a:solidFill>
                  <a:srgbClr val="1A376C"/>
                </a:solidFill>
              </a:rPr>
              <a:t>What We Measured</a:t>
            </a:r>
          </a:p>
          <a:p>
            <a:pPr algn="l">
              <a:spcBef>
                <a:spcPts val="600"/>
              </a:spcBef>
            </a:pPr>
            <a:r>
              <a:rPr sz="2200" b="0" dirty="0">
                <a:solidFill>
                  <a:srgbClr val="000000"/>
                </a:solidFill>
              </a:rPr>
              <a:t>• Time-to-First-Audio (TTFA) in milliseconds</a:t>
            </a:r>
          </a:p>
          <a:p>
            <a:pPr algn="l">
              <a:spcBef>
                <a:spcPts val="600"/>
              </a:spcBef>
            </a:pPr>
            <a:r>
              <a:rPr sz="2200" b="0" dirty="0">
                <a:solidFill>
                  <a:srgbClr val="000000"/>
                </a:solidFill>
              </a:rPr>
              <a:t>• Effective Bitrate (bps) — bandwidth usage</a:t>
            </a:r>
          </a:p>
          <a:p>
            <a:pPr algn="l">
              <a:spcBef>
                <a:spcPts val="600"/>
              </a:spcBef>
            </a:pPr>
            <a:r>
              <a:rPr sz="2200" b="0" dirty="0">
                <a:solidFill>
                  <a:srgbClr val="000000"/>
                </a:solidFill>
              </a:rPr>
              <a:t>• Real-Time Factor (RTF = Processing Time / Audio Duration)</a:t>
            </a:r>
          </a:p>
          <a:p>
            <a:pPr algn="l">
              <a:spcBef>
                <a:spcPts val="600"/>
              </a:spcBef>
            </a:pPr>
            <a:r>
              <a:rPr sz="2200" b="0" dirty="0">
                <a:solidFill>
                  <a:srgbClr val="000000"/>
                </a:solidFill>
              </a:rPr>
              <a:t>• Semantic BLEU Score — meaning preservation</a:t>
            </a:r>
          </a:p>
          <a:p>
            <a:pPr>
              <a:spcBef>
                <a:spcPts val="400"/>
              </a:spcBef>
            </a:pPr>
            <a:endParaRPr sz="2200" b="0" dirty="0">
              <a:solidFill>
                <a:srgbClr val="000000"/>
              </a:solidFill>
            </a:endParaRPr>
          </a:p>
          <a:p>
            <a:pPr algn="l">
              <a:spcBef>
                <a:spcPts val="600"/>
              </a:spcBef>
            </a:pPr>
            <a:r>
              <a:rPr sz="2200" b="1" dirty="0">
                <a:solidFill>
                  <a:srgbClr val="1A376C"/>
                </a:solidFill>
              </a:rPr>
              <a:t>Test Conditions</a:t>
            </a:r>
          </a:p>
          <a:p>
            <a:pPr algn="l">
              <a:spcBef>
                <a:spcPts val="600"/>
              </a:spcBef>
            </a:pPr>
            <a:r>
              <a:rPr sz="2200" b="0" dirty="0">
                <a:solidFill>
                  <a:srgbClr val="000000"/>
                </a:solidFill>
              </a:rPr>
              <a:t>• 3 Wireless Channels: AWGN, Rayleigh Fading, Rician Fading</a:t>
            </a:r>
          </a:p>
          <a:p>
            <a:pPr algn="l">
              <a:spcBef>
                <a:spcPts val="600"/>
              </a:spcBef>
            </a:pPr>
            <a:r>
              <a:rPr sz="2200" b="0" dirty="0">
                <a:solidFill>
                  <a:srgbClr val="000000"/>
                </a:solidFill>
              </a:rPr>
              <a:t>• 6 SNR Levels: -5, 0, 5, 10, 15, 20 dB</a:t>
            </a:r>
          </a:p>
          <a:p>
            <a:pPr algn="l">
              <a:spcBef>
                <a:spcPts val="600"/>
              </a:spcBef>
            </a:pPr>
            <a:r>
              <a:rPr sz="2200" b="0" dirty="0">
                <a:solidFill>
                  <a:srgbClr val="000000"/>
                </a:solidFill>
              </a:rPr>
              <a:t>• 4 Audio Durations: 3.1s, 7.2s, 10.7s, 24.7s</a:t>
            </a:r>
          </a:p>
          <a:p>
            <a:pPr algn="l">
              <a:spcBef>
                <a:spcPts val="600"/>
              </a:spcBef>
            </a:pPr>
            <a:r>
              <a:rPr sz="2200" b="0" dirty="0">
                <a:solidFill>
                  <a:srgbClr val="000000"/>
                </a:solidFill>
              </a:rPr>
              <a:t>• Total: 72 main trials + 216 SNR sweep trials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4334695"/>
              </p:ext>
            </p:extLst>
          </p:nvPr>
        </p:nvGraphicFramePr>
        <p:xfrm>
          <a:off x="6035040" y="1280160"/>
          <a:ext cx="5943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>
                    <a:solidFill>
                      <a:srgbClr val="1A376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FFFFFF"/>
                          </a:solidFill>
                        </a:rPr>
                        <a:t>Pipeline </a:t>
                      </a: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A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</a:rPr>
                        <a:t> (S2T2S)</a:t>
                      </a:r>
                    </a:p>
                  </a:txBody>
                  <a:tcPr>
                    <a:solidFill>
                      <a:srgbClr val="1A376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FFFFFF"/>
                          </a:solidFill>
                        </a:rPr>
                        <a:t>Pipeline </a:t>
                      </a: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B 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</a:rPr>
                        <a:t>(S2S)</a:t>
                      </a:r>
                    </a:p>
                  </a:txBody>
                  <a:tcPr>
                    <a:solidFill>
                      <a:srgbClr val="1A376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000000"/>
                          </a:solidFill>
                        </a:rPr>
                        <a:t>Bitrate (bps)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000000"/>
                          </a:solidFill>
                        </a:rPr>
                        <a:t>~622 – 1,077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000000"/>
                          </a:solidFill>
                        </a:rPr>
                        <a:t>~1,100 – 1,500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000000"/>
                          </a:solidFill>
                        </a:rPr>
                        <a:t>Algorithmic Lookahead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000000"/>
                          </a:solidFill>
                        </a:rPr>
                        <a:t>500 – 2,000 ms (phrase)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000000"/>
                          </a:solidFill>
                        </a:rPr>
                        <a:t>20 – 50 ms (frame)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000000"/>
                          </a:solidFill>
                        </a:rPr>
                        <a:t>Inference Steps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000000"/>
                          </a:solidFill>
                        </a:rPr>
                        <a:t>ASR → DeepSC → TTS (3×)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000000"/>
                          </a:solidFill>
                        </a:rPr>
                        <a:t>Single tokenizer + vocoder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000000"/>
                          </a:solidFill>
                        </a:rPr>
                        <a:t>TTFA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000000"/>
                          </a:solidFill>
                        </a:rPr>
                        <a:t>800 – 29,000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000000"/>
                          </a:solidFill>
                        </a:rPr>
                        <a:t>43 – 63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000000"/>
                          </a:solidFill>
                        </a:rPr>
                        <a:t>ITU-T G.114 Pass?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000000"/>
                          </a:solidFill>
                        </a:rPr>
                        <a:t>NO  (violated 25×–145×)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dirty="0">
                          <a:solidFill>
                            <a:srgbClr val="000000"/>
                          </a:solidFill>
                        </a:rPr>
                        <a:t>YES  (&lt; 200 </a:t>
                      </a:r>
                      <a:r>
                        <a:rPr sz="1500" dirty="0" err="1">
                          <a:solidFill>
                            <a:srgbClr val="000000"/>
                          </a:solidFill>
                        </a:rPr>
                        <a:t>ms</a:t>
                      </a:r>
                      <a:r>
                        <a:rPr sz="1500" dirty="0">
                          <a:solidFill>
                            <a:srgbClr val="000000"/>
                          </a:solidFill>
                        </a:rPr>
                        <a:t>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035040" y="544068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88888"/>
                </a:solidFill>
              </a:rPr>
              <a:t>2×2 Benchmark Matrix — Bandwidth vs. Latency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0972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Result 1: Bandwidth Comparison</a:t>
            </a:r>
          </a:p>
        </p:txBody>
      </p:sp>
      <p:pic>
        <p:nvPicPr>
          <p:cNvPr id="4" name="Picture 3" descr="bandwidth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42999"/>
            <a:ext cx="6177280" cy="469053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49532" y="1188720"/>
            <a:ext cx="5037667" cy="52732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b="1" dirty="0">
                <a:solidFill>
                  <a:srgbClr val="1A376C"/>
                </a:solidFill>
              </a:rPr>
              <a:t>Key Findings</a:t>
            </a:r>
          </a:p>
          <a:p>
            <a:pPr algn="l">
              <a:spcBef>
                <a:spcPts val="600"/>
              </a:spcBef>
            </a:pPr>
            <a:r>
              <a:rPr b="0" dirty="0">
                <a:solidFill>
                  <a:srgbClr val="000000"/>
                </a:solidFill>
              </a:rPr>
              <a:t>• S2T2S uses 622 – 1,077 bps</a:t>
            </a:r>
          </a:p>
          <a:p>
            <a:pPr algn="l">
              <a:spcBef>
                <a:spcPts val="600"/>
              </a:spcBef>
            </a:pPr>
            <a:r>
              <a:rPr b="0" dirty="0">
                <a:solidFill>
                  <a:srgbClr val="000000"/>
                </a:solidFill>
              </a:rPr>
              <a:t>• S2S uses 1,100 – 1,500 bps</a:t>
            </a:r>
          </a:p>
          <a:p>
            <a:pPr algn="l">
              <a:spcBef>
                <a:spcPts val="600"/>
              </a:spcBef>
            </a:pPr>
            <a:r>
              <a:rPr b="0" dirty="0">
                <a:solidFill>
                  <a:srgbClr val="000000"/>
                </a:solidFill>
              </a:rPr>
              <a:t>• S2T2S saves 1.4× to 1.5×  bandwidth</a:t>
            </a:r>
          </a:p>
          <a:p>
            <a:pPr>
              <a:spcBef>
                <a:spcPts val="400"/>
              </a:spcBef>
            </a:pPr>
            <a:endParaRPr b="0" dirty="0">
              <a:solidFill>
                <a:srgbClr val="000000"/>
              </a:solidFill>
            </a:endParaRPr>
          </a:p>
          <a:p>
            <a:pPr algn="l">
              <a:spcBef>
                <a:spcPts val="600"/>
              </a:spcBef>
            </a:pPr>
            <a:r>
              <a:rPr b="1" dirty="0">
                <a:solidFill>
                  <a:srgbClr val="1A376C"/>
                </a:solidFill>
              </a:rPr>
              <a:t>Why S2T2S Wins on Bandwidth</a:t>
            </a:r>
          </a:p>
          <a:p>
            <a:pPr algn="l">
              <a:spcBef>
                <a:spcPts val="600"/>
              </a:spcBef>
            </a:pPr>
            <a:r>
              <a:rPr b="0" dirty="0">
                <a:solidFill>
                  <a:srgbClr val="000000"/>
                </a:solidFill>
              </a:rPr>
              <a:t>• Text is ultra-dense: 50-100 words</a:t>
            </a:r>
          </a:p>
          <a:p>
            <a:pPr algn="l">
              <a:spcBef>
                <a:spcPts val="600"/>
              </a:spcBef>
            </a:pPr>
            <a:r>
              <a:rPr b="0" dirty="0">
                <a:solidFill>
                  <a:srgbClr val="000000"/>
                </a:solidFill>
              </a:rPr>
              <a:t>  per min = ~100-150 bps</a:t>
            </a:r>
          </a:p>
          <a:p>
            <a:pPr algn="l">
              <a:spcBef>
                <a:spcPts val="600"/>
              </a:spcBef>
            </a:pPr>
            <a:r>
              <a:rPr b="0" dirty="0">
                <a:solidFill>
                  <a:srgbClr val="000000"/>
                </a:solidFill>
              </a:rPr>
              <a:t>• Neural audio tokens require</a:t>
            </a:r>
          </a:p>
          <a:p>
            <a:pPr algn="l">
              <a:spcBef>
                <a:spcPts val="600"/>
              </a:spcBef>
            </a:pPr>
            <a:r>
              <a:rPr b="0" dirty="0">
                <a:solidFill>
                  <a:srgbClr val="000000"/>
                </a:solidFill>
              </a:rPr>
              <a:t>  multiple codebook levels</a:t>
            </a:r>
          </a:p>
          <a:p>
            <a:pPr>
              <a:spcBef>
                <a:spcPts val="400"/>
              </a:spcBef>
            </a:pPr>
            <a:endParaRPr b="0" dirty="0">
              <a:solidFill>
                <a:srgbClr val="000000"/>
              </a:solidFill>
            </a:endParaRPr>
          </a:p>
          <a:p>
            <a:pPr algn="l">
              <a:spcBef>
                <a:spcPts val="600"/>
              </a:spcBef>
            </a:pPr>
            <a:r>
              <a:rPr b="1" dirty="0">
                <a:solidFill>
                  <a:srgbClr val="1A376C"/>
                </a:solidFill>
              </a:rPr>
              <a:t>Implication</a:t>
            </a:r>
          </a:p>
          <a:p>
            <a:pPr algn="l">
              <a:spcBef>
                <a:spcPts val="600"/>
              </a:spcBef>
            </a:pPr>
            <a:r>
              <a:rPr b="0" dirty="0">
                <a:solidFill>
                  <a:srgbClr val="000000"/>
                </a:solidFill>
              </a:rPr>
              <a:t>• For bandwidth-scarce links</a:t>
            </a:r>
          </a:p>
          <a:p>
            <a:pPr algn="l">
              <a:spcBef>
                <a:spcPts val="600"/>
              </a:spcBef>
            </a:pPr>
            <a:r>
              <a:rPr b="0" dirty="0">
                <a:solidFill>
                  <a:srgbClr val="000000"/>
                </a:solidFill>
              </a:rPr>
              <a:t>  (satellite, IoT), S2T2S is better</a:t>
            </a:r>
          </a:p>
          <a:p>
            <a:pPr algn="l">
              <a:spcBef>
                <a:spcPts val="600"/>
              </a:spcBef>
            </a:pPr>
            <a:r>
              <a:rPr b="0" dirty="0">
                <a:solidFill>
                  <a:srgbClr val="000000"/>
                </a:solidFill>
              </a:rPr>
              <a:t>• But only if latency is acceptable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0972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Result 2: Time-to-First-Audio (TTFA) — The Critical Metric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188720"/>
            <a:ext cx="52120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2300" b="1" dirty="0">
                <a:solidFill>
                  <a:srgbClr val="1A376C"/>
                </a:solidFill>
              </a:rPr>
              <a:t>Empirical TTFA Results</a:t>
            </a:r>
          </a:p>
          <a:p>
            <a:pPr algn="l">
              <a:spcBef>
                <a:spcPts val="600"/>
              </a:spcBef>
            </a:pPr>
            <a:r>
              <a:rPr sz="2200" b="0" dirty="0">
                <a:solidFill>
                  <a:srgbClr val="000000"/>
                </a:solidFill>
              </a:rPr>
              <a:t>• S2S (Mimi):             43 </a:t>
            </a:r>
            <a:r>
              <a:rPr sz="2200" b="0" dirty="0" err="1">
                <a:solidFill>
                  <a:srgbClr val="000000"/>
                </a:solidFill>
              </a:rPr>
              <a:t>ms</a:t>
            </a:r>
            <a:endParaRPr sz="2200" b="0" dirty="0">
              <a:solidFill>
                <a:srgbClr val="000000"/>
              </a:solidFill>
            </a:endParaRPr>
          </a:p>
          <a:p>
            <a:pPr algn="l">
              <a:spcBef>
                <a:spcPts val="600"/>
              </a:spcBef>
            </a:pPr>
            <a:r>
              <a:rPr sz="2200" b="0" dirty="0">
                <a:solidFill>
                  <a:srgbClr val="000000"/>
                </a:solidFill>
              </a:rPr>
              <a:t>• S2S (</a:t>
            </a:r>
            <a:r>
              <a:rPr sz="2200" b="0" dirty="0" err="1">
                <a:solidFill>
                  <a:srgbClr val="000000"/>
                </a:solidFill>
              </a:rPr>
              <a:t>SpeechTokenizer</a:t>
            </a:r>
            <a:r>
              <a:rPr sz="2200" b="0" dirty="0">
                <a:solidFill>
                  <a:srgbClr val="000000"/>
                </a:solidFill>
              </a:rPr>
              <a:t>):  63 </a:t>
            </a:r>
            <a:r>
              <a:rPr sz="2200" b="0" dirty="0" err="1">
                <a:solidFill>
                  <a:srgbClr val="000000"/>
                </a:solidFill>
              </a:rPr>
              <a:t>ms</a:t>
            </a:r>
            <a:endParaRPr sz="2200" b="0" dirty="0">
              <a:solidFill>
                <a:srgbClr val="000000"/>
              </a:solidFill>
            </a:endParaRPr>
          </a:p>
          <a:p>
            <a:pPr algn="l">
              <a:spcBef>
                <a:spcPts val="600"/>
              </a:spcBef>
            </a:pPr>
            <a:r>
              <a:rPr sz="2200" b="0" dirty="0">
                <a:solidFill>
                  <a:srgbClr val="000000"/>
                </a:solidFill>
              </a:rPr>
              <a:t>• S2T2S — Short audio:  5,278 </a:t>
            </a:r>
            <a:r>
              <a:rPr sz="2200" b="0" dirty="0" err="1">
                <a:solidFill>
                  <a:srgbClr val="000000"/>
                </a:solidFill>
              </a:rPr>
              <a:t>ms</a:t>
            </a:r>
            <a:endParaRPr sz="2200" b="0" dirty="0">
              <a:solidFill>
                <a:srgbClr val="000000"/>
              </a:solidFill>
            </a:endParaRPr>
          </a:p>
          <a:p>
            <a:pPr algn="l">
              <a:spcBef>
                <a:spcPts val="600"/>
              </a:spcBef>
            </a:pPr>
            <a:r>
              <a:rPr sz="2200" b="0" dirty="0">
                <a:solidFill>
                  <a:srgbClr val="000000"/>
                </a:solidFill>
              </a:rPr>
              <a:t>• S2T2S — Long audio:  29,169 </a:t>
            </a:r>
            <a:r>
              <a:rPr sz="2200" b="0" dirty="0" err="1">
                <a:solidFill>
                  <a:srgbClr val="000000"/>
                </a:solidFill>
              </a:rPr>
              <a:t>ms</a:t>
            </a:r>
            <a:endParaRPr sz="2200" b="0" dirty="0">
              <a:solidFill>
                <a:srgbClr val="000000"/>
              </a:solidFill>
            </a:endParaRPr>
          </a:p>
          <a:p>
            <a:pPr>
              <a:spcBef>
                <a:spcPts val="400"/>
              </a:spcBef>
            </a:pPr>
            <a:endParaRPr sz="2200" b="0" dirty="0">
              <a:solidFill>
                <a:srgbClr val="000000"/>
              </a:solidFill>
            </a:endParaRPr>
          </a:p>
          <a:p>
            <a:pPr algn="l">
              <a:spcBef>
                <a:spcPts val="600"/>
              </a:spcBef>
            </a:pPr>
            <a:r>
              <a:rPr sz="2300" b="1" dirty="0">
                <a:solidFill>
                  <a:srgbClr val="1A376C"/>
                </a:solidFill>
              </a:rPr>
              <a:t>S2S is 186× Faster on Average</a:t>
            </a:r>
          </a:p>
          <a:p>
            <a:pPr>
              <a:spcBef>
                <a:spcPts val="400"/>
              </a:spcBef>
            </a:pPr>
            <a:endParaRPr sz="2300" b="1" dirty="0">
              <a:solidFill>
                <a:srgbClr val="1A376C"/>
              </a:solidFill>
            </a:endParaRPr>
          </a:p>
          <a:p>
            <a:pPr algn="l">
              <a:spcBef>
                <a:spcPts val="600"/>
              </a:spcBef>
            </a:pPr>
            <a:r>
              <a:rPr sz="2300" b="1" dirty="0">
                <a:solidFill>
                  <a:srgbClr val="1A376C"/>
                </a:solidFill>
              </a:rPr>
              <a:t>Why the Huge Gap?</a:t>
            </a:r>
          </a:p>
          <a:p>
            <a:pPr algn="l">
              <a:spcBef>
                <a:spcPts val="600"/>
              </a:spcBef>
            </a:pPr>
            <a:r>
              <a:rPr sz="2200" b="0" dirty="0">
                <a:solidFill>
                  <a:srgbClr val="000000"/>
                </a:solidFill>
              </a:rPr>
              <a:t>• ASR buffers entire sentence before</a:t>
            </a:r>
          </a:p>
          <a:p>
            <a:pPr algn="l">
              <a:spcBef>
                <a:spcPts val="600"/>
              </a:spcBef>
            </a:pPr>
            <a:r>
              <a:rPr sz="2100" b="0" dirty="0">
                <a:solidFill>
                  <a:srgbClr val="000000"/>
                </a:solidFill>
              </a:rPr>
              <a:t>  outputting first word</a:t>
            </a:r>
          </a:p>
          <a:p>
            <a:pPr algn="l">
              <a:spcBef>
                <a:spcPts val="600"/>
              </a:spcBef>
            </a:pPr>
            <a:r>
              <a:rPr sz="2200" b="0" dirty="0">
                <a:solidFill>
                  <a:srgbClr val="000000"/>
                </a:solidFill>
              </a:rPr>
              <a:t>• TTS needs full sentence for pitch</a:t>
            </a:r>
          </a:p>
          <a:p>
            <a:pPr algn="l">
              <a:spcBef>
                <a:spcPts val="600"/>
              </a:spcBef>
            </a:pPr>
            <a:r>
              <a:rPr sz="2200" b="0" dirty="0">
                <a:solidFill>
                  <a:srgbClr val="000000"/>
                </a:solidFill>
              </a:rPr>
              <a:t>• Both models run in sequence (cascade)</a:t>
            </a:r>
          </a:p>
          <a:p>
            <a:pPr>
              <a:spcBef>
                <a:spcPts val="400"/>
              </a:spcBef>
            </a:pPr>
            <a:endParaRPr sz="2200" b="0" dirty="0">
              <a:solidFill>
                <a:srgbClr val="000000"/>
              </a:solidFill>
            </a:endParaRPr>
          </a:p>
          <a:p>
            <a:pPr algn="l">
              <a:spcBef>
                <a:spcPts val="600"/>
              </a:spcBef>
            </a:pPr>
            <a:r>
              <a:rPr sz="2300" b="1" dirty="0">
                <a:solidFill>
                  <a:srgbClr val="1A376C"/>
                </a:solidFill>
              </a:rPr>
              <a:t>ITU-T G.114 Threshold = 200 </a:t>
            </a:r>
            <a:r>
              <a:rPr sz="2300" b="1" dirty="0" err="1">
                <a:solidFill>
                  <a:srgbClr val="1A376C"/>
                </a:solidFill>
              </a:rPr>
              <a:t>ms</a:t>
            </a:r>
            <a:endParaRPr sz="2300" b="1" dirty="0">
              <a:solidFill>
                <a:srgbClr val="1A376C"/>
              </a:solidFill>
            </a:endParaRPr>
          </a:p>
          <a:p>
            <a:pPr algn="l">
              <a:spcBef>
                <a:spcPts val="600"/>
              </a:spcBef>
            </a:pPr>
            <a:r>
              <a:rPr sz="2200" b="0" dirty="0">
                <a:solidFill>
                  <a:srgbClr val="000000"/>
                </a:solidFill>
              </a:rPr>
              <a:t>• S2S: PASSES (43–63 </a:t>
            </a:r>
            <a:r>
              <a:rPr sz="2200" b="0" dirty="0" err="1">
                <a:solidFill>
                  <a:srgbClr val="000000"/>
                </a:solidFill>
              </a:rPr>
              <a:t>ms</a:t>
            </a:r>
            <a:r>
              <a:rPr sz="2200" b="0" dirty="0">
                <a:solidFill>
                  <a:srgbClr val="000000"/>
                </a:solidFill>
              </a:rPr>
              <a:t>)</a:t>
            </a:r>
          </a:p>
          <a:p>
            <a:pPr algn="l">
              <a:spcBef>
                <a:spcPts val="600"/>
              </a:spcBef>
            </a:pPr>
            <a:r>
              <a:rPr sz="2200" b="0" dirty="0">
                <a:solidFill>
                  <a:srgbClr val="000000"/>
                </a:solidFill>
              </a:rPr>
              <a:t>• S2T2S: FAILS by 25× to 145×</a:t>
            </a:r>
          </a:p>
        </p:txBody>
      </p:sp>
      <p:pic>
        <p:nvPicPr>
          <p:cNvPr id="5" name="Picture 4" descr="ttfa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143000"/>
            <a:ext cx="621792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0972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The Core Finding: Pareto Frontier — No Universal Winner</a:t>
            </a:r>
          </a:p>
        </p:txBody>
      </p:sp>
      <p:pic>
        <p:nvPicPr>
          <p:cNvPr id="4" name="Picture 3" descr="tradeoff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43000"/>
            <a:ext cx="6858000" cy="512064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406640" y="1280160"/>
          <a:ext cx="4572000" cy="35478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94944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Operating Regime</a:t>
                      </a:r>
                    </a:p>
                  </a:txBody>
                  <a:tcPr>
                    <a:solidFill>
                      <a:srgbClr val="1A376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Best Pipeline</a:t>
                      </a:r>
                    </a:p>
                  </a:txBody>
                  <a:tcPr>
                    <a:solidFill>
                      <a:srgbClr val="1A376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Why</a:t>
                      </a:r>
                    </a:p>
                  </a:txBody>
                  <a:tcPr>
                    <a:solidFill>
                      <a:srgbClr val="1A376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</a:rPr>
                        <a:t>Real-time voice
(VoIP, calls)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</a:rPr>
                        <a:t>Semantic S2S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</a:rPr>
                        <a:t>TTFA &lt; 200 ms
(ITU compliant)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000000"/>
                          </a:solidFill>
                        </a:rPr>
                        <a:t>Asynchronous msg
(IoT, satellite)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</a:rPr>
                        <a:t>S2T2S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000000"/>
                          </a:solidFill>
                        </a:rPr>
                        <a:t>1.4× lower
bandwidth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</a:rPr>
                        <a:t>Interactive apps
(video calls)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</a:rPr>
                        <a:t>Semantic S2S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</a:rPr>
                        <a:t>No noticeable
lag for users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</a:rPr>
                        <a:t>Deep-space / rural
low-bandwidth links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</a:rPr>
                        <a:t>S2T2S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000000"/>
                          </a:solidFill>
                        </a:rPr>
                        <a:t>Text fits in
narrow channels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406640" y="5056632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1A376C"/>
                </a:solidFill>
              </a:rPr>
              <a:t>CONCLUSION:  Both pipelines are Pareto-optimal.
S2S dominates for real-time conversation.
S2T2S dominates for bandwidth-limited async links.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0972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Implementation Stack: Technologies Used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188720"/>
          <a:ext cx="1161288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3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032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032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032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</a:rPr>
                        <a:t>Component</a:t>
                      </a:r>
                    </a:p>
                  </a:txBody>
                  <a:tcPr>
                    <a:solidFill>
                      <a:srgbClr val="1A376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</a:rPr>
                        <a:t>Technology</a:t>
                      </a:r>
                    </a:p>
                  </a:txBody>
                  <a:tcPr>
                    <a:solidFill>
                      <a:srgbClr val="1A376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</a:rPr>
                        <a:t>Role</a:t>
                      </a:r>
                    </a:p>
                  </a:txBody>
                  <a:tcPr>
                    <a:solidFill>
                      <a:srgbClr val="1A376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</a:rPr>
                        <a:t>Key Spec</a:t>
                      </a:r>
                    </a:p>
                  </a:txBody>
                  <a:tcPr>
                    <a:solidFill>
                      <a:srgbClr val="1A376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000000"/>
                          </a:solidFill>
                        </a:rPr>
                        <a:t>Speech Recognition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dirty="0" err="1">
                          <a:solidFill>
                            <a:srgbClr val="000000"/>
                          </a:solidFill>
                        </a:rPr>
                        <a:t>FunASR</a:t>
                      </a:r>
                      <a:r>
                        <a:rPr sz="1500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sz="1500" dirty="0" err="1">
                          <a:solidFill>
                            <a:srgbClr val="000000"/>
                          </a:solidFill>
                        </a:rPr>
                        <a:t>SenseVoice</a:t>
                      </a:r>
                      <a:r>
                        <a:rPr sz="1500" dirty="0">
                          <a:solidFill>
                            <a:srgbClr val="000000"/>
                          </a:solidFill>
                        </a:rPr>
                        <a:t>-Small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000000"/>
                          </a:solidFill>
                        </a:rPr>
                        <a:t>Convert speech to text
+ extract emotion/gender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000000"/>
                          </a:solidFill>
                        </a:rPr>
                        <a:t>Non-autoregressive
Transformer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000000"/>
                          </a:solidFill>
                        </a:rPr>
                        <a:t>Semantic Coder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000000"/>
                          </a:solidFill>
                        </a:rPr>
                        <a:t>DeepSC Transformer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000000"/>
                          </a:solidFill>
                        </a:rPr>
                        <a:t>Joint Source-Channel
Coding (JSCC)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000000"/>
                          </a:solidFill>
                        </a:rPr>
                        <a:t>4-layer, 128-dim,
22,234 vocab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000000"/>
                          </a:solidFill>
                        </a:rPr>
                        <a:t>Wireless Channel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000000"/>
                          </a:solidFill>
                        </a:rPr>
                        <a:t>AWGN / Rayleigh / Rician
(Custom PyTorch sim)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000000"/>
                          </a:solidFill>
                        </a:rPr>
                        <a:t>Simulate RF noise
and fading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000000"/>
                          </a:solidFill>
                        </a:rPr>
                        <a:t>SNR: -5 to +20 dB
Zero-Forcing EQ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000000"/>
                          </a:solidFill>
                        </a:rPr>
                        <a:t>Speech Synthesis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000000"/>
                          </a:solidFill>
                        </a:rPr>
                        <a:t>Kokoro-82M TTS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000000"/>
                          </a:solidFill>
                        </a:rPr>
                        <a:t>Reconstruct speech
from decoded 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000000"/>
                          </a:solidFill>
                        </a:rPr>
                        <a:t>82M params
24 kHz output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000000"/>
                          </a:solidFill>
                        </a:rPr>
                        <a:t>S2S Baselines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000000"/>
                          </a:solidFill>
                        </a:rPr>
                        <a:t>SpeechTokenizer, Mimi,
EnCodec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000000"/>
                          </a:solidFill>
                        </a:rPr>
                        <a:t>Direct neural audio
tokenization (RVQ)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000000"/>
                          </a:solidFill>
                        </a:rPr>
                        <a:t>12.5–20 ms frames
1.1–1.5 kbps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000000"/>
                          </a:solidFill>
                        </a:rPr>
                        <a:t>Demo UI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000000"/>
                          </a:solidFill>
                        </a:rPr>
                        <a:t>Gradio Web App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000000"/>
                          </a:solidFill>
                        </a:rPr>
                        <a:t>Live interactive demo
at localhost:7860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dirty="0">
                          <a:solidFill>
                            <a:srgbClr val="000000"/>
                          </a:solidFill>
                        </a:rPr>
                        <a:t>3 tabs:
Pipeline / Channel / Analysis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0972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Literature Review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188720"/>
          <a:ext cx="11612880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3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032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032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032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44582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Paper / System</a:t>
                      </a:r>
                    </a:p>
                  </a:txBody>
                  <a:tcPr>
                    <a:solidFill>
                      <a:srgbClr val="1A376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Authors &amp; Venue</a:t>
                      </a:r>
                    </a:p>
                  </a:txBody>
                  <a:tcPr>
                    <a:solidFill>
                      <a:srgbClr val="1A376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Key Contribution</a:t>
                      </a:r>
                    </a:p>
                  </a:txBody>
                  <a:tcPr>
                    <a:solidFill>
                      <a:srgbClr val="1A376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Relevance to Our Work</a:t>
                      </a:r>
                    </a:p>
                  </a:txBody>
                  <a:tcPr>
                    <a:solidFill>
                      <a:srgbClr val="1A376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4582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</a:rPr>
                        <a:t>DeepSC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</a:rPr>
                        <a:t>Xie et al., IEEE TSP 2021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</a:rPr>
                        <a:t>First Transformer-based
Joint Source-Channel Coding (JSCC)
for text over wireless channels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</a:rPr>
                        <a:t>Core semantic encoder/decoder
in our S2T2S pipeline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4582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</a:rPr>
                        <a:t>SpeechTokenizer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</a:rPr>
                        <a:t>Zhang et al., ICLR 2024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</a:rPr>
                        <a:t>Disentangled RVQ speech codec:
codebook 1 = semantic (HuBERT),
codebooks 2-8 = acoustic detail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</a:rPr>
                        <a:t>Primary S2S baseline; 20ms frames,
1.5 kbps, TTFA = 63ms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4582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</a:rPr>
                        <a:t>Kyutai Mimi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</a:rPr>
                        <a:t>Défossez et al., 2024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</a:rPr>
                        <a:t>Ultra-low latency streaming codec
(backbone of Moshi voice assistant)
12.5 Hz frame rate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</a:rPr>
                        <a:t>Lowest TTFA baseline: 43ms
at only 1.1 kbps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4582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</a:rPr>
                        <a:t>EnCodec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</a:rPr>
                        <a:t>Défossez et al., ICML 2023
(Meta AI)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</a:rPr>
                        <a:t>Neural audio codec using
residual vector quantization + adversarial training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</a:rPr>
                        <a:t>Third S2S baseline;
1.5 kbps, TTFA = 54.9ms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4582"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000000"/>
                          </a:solidFill>
                        </a:rPr>
                        <a:t>ITU-T G.114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</a:rPr>
                        <a:t>International Telecom Union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</a:rPr>
                        <a:t>Defines max one-way voice delay
for natural conversation: 150ms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</a:rPr>
                        <a:t>Threshold used to evaluate
which pipelines support real-time calls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44588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</a:rPr>
                        <a:t>Shannon Semantic Levels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</a:rPr>
                        <a:t>Weaver, 1949; Shannon, 1948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</a:rPr>
                        <a:t>Three-level comm. model:
Technical → Semantic → Effectiveness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000000"/>
                          </a:solidFill>
                        </a:rPr>
                        <a:t>Theoretical foundation for
why meaning matters beyond bits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0972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4300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700">
                <a:solidFill>
                  <a:srgbClr val="000000"/>
                </a:solidFill>
              </a:rPr>
              <a:t>[1]  H. Xie, Z. Qin, G. Y. Li, and B.-H. Juang, 'Deep Learning Enabled Semantic Communication Systems,' IEEE Transactions on Signal Processing, vol. 69, pp. 2663-2675, 2021.</a:t>
            </a:r>
          </a:p>
          <a:p>
            <a:pPr>
              <a:spcBef>
                <a:spcPts val="800"/>
              </a:spcBef>
            </a:pPr>
            <a:r>
              <a:rPr sz="1700">
                <a:solidFill>
                  <a:srgbClr val="000000"/>
                </a:solidFill>
              </a:rPr>
              <a:t>[2]  X. Zhang, R. Zhang, Y. Li, et al., 'SpeechTokenizer: Unified Speech Tokenizer for Speech Language Models,' International Conference on Learning Representations (ICLR), 2024.</a:t>
            </a:r>
          </a:p>
          <a:p>
            <a:pPr>
              <a:spcBef>
                <a:spcPts val="800"/>
              </a:spcBef>
            </a:pPr>
            <a:r>
              <a:rPr sz="1700">
                <a:solidFill>
                  <a:srgbClr val="000000"/>
                </a:solidFill>
              </a:rPr>
              <a:t>[3]  A. Défossez, J. Copet, G. Synnaeve, and Y. Adi, 'High Fidelity Neural Audio Compression (EnCodec),' Transactions on Machine Learning Research (TMLR) / ICML 2023.</a:t>
            </a:r>
          </a:p>
          <a:p>
            <a:pPr>
              <a:spcBef>
                <a:spcPts val="800"/>
              </a:spcBef>
            </a:pPr>
            <a:r>
              <a:rPr sz="1700">
                <a:solidFill>
                  <a:srgbClr val="000000"/>
                </a:solidFill>
              </a:rPr>
              <a:t>[4]  A. Défossez et al., 'Moshi: A Speech-Text Foundation Model for Real-Time Dialogue (Mimi Codec),' Kyutai Technical Report, 2024.</a:t>
            </a:r>
          </a:p>
          <a:p>
            <a:pPr>
              <a:spcBef>
                <a:spcPts val="800"/>
              </a:spcBef>
            </a:pPr>
            <a:r>
              <a:rPr sz="1700">
                <a:solidFill>
                  <a:srgbClr val="000000"/>
                </a:solidFill>
              </a:rPr>
              <a:t>[5]  ITU-T Recommendation G.114, 'One-way Delay,' International Telecommunication Union, 2003.</a:t>
            </a:r>
          </a:p>
          <a:p>
            <a:pPr>
              <a:spcBef>
                <a:spcPts val="800"/>
              </a:spcBef>
            </a:pPr>
            <a:r>
              <a:rPr sz="1700">
                <a:solidFill>
                  <a:srgbClr val="000000"/>
                </a:solidFill>
              </a:rPr>
              <a:t>[6]  W. Weaver and C. E. Shannon, 'The Mathematical Theory of Communication,' University of Illinois Press, 1949.</a:t>
            </a:r>
          </a:p>
          <a:p>
            <a:pPr>
              <a:spcBef>
                <a:spcPts val="800"/>
              </a:spcBef>
            </a:pPr>
            <a:r>
              <a:rPr sz="1700">
                <a:solidFill>
                  <a:srgbClr val="000000"/>
                </a:solidFill>
              </a:rPr>
              <a:t>[7]  FunASR: A Fundamental End-to-End Speech Recognition Toolkit (SenseVoice), Alibaba DAMO Academy / ModelScope, 2023.</a:t>
            </a:r>
          </a:p>
          <a:p>
            <a:pPr>
              <a:spcBef>
                <a:spcPts val="800"/>
              </a:spcBef>
            </a:pPr>
            <a:r>
              <a:rPr sz="1700">
                <a:solidFill>
                  <a:srgbClr val="000000"/>
                </a:solidFill>
              </a:rPr>
              <a:t>[8]  Kokoro-82M: Open-weight TTS model, HexGrad / Hugging Face, 2024.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1403</Words>
  <Application>Microsoft Office PowerPoint</Application>
  <PresentationFormat>Custom</PresentationFormat>
  <Paragraphs>179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Adarsh Kumar</cp:lastModifiedBy>
  <cp:revision>2</cp:revision>
  <dcterms:created xsi:type="dcterms:W3CDTF">2013-01-27T09:14:16Z</dcterms:created>
  <dcterms:modified xsi:type="dcterms:W3CDTF">2026-10-01T08:02:09Z</dcterms:modified>
  <cp:category/>
</cp:coreProperties>
</file>